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5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54"/>
    <p:restoredTop sz="94666"/>
  </p:normalViewPr>
  <p:slideViewPr>
    <p:cSldViewPr snapToGrid="0">
      <p:cViewPr varScale="1">
        <p:scale>
          <a:sx n="75" d="100"/>
          <a:sy n="75" d="100"/>
        </p:scale>
        <p:origin x="176" y="1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10/4/26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10/4/26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10/4/26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10/4/26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10/4/26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10/4/26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10/4/26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10/4/26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10/4/26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10/4/26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D5CE3-9163-6E1F-F9B5-5D0A0B544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129367"/>
          </a:xfrm>
        </p:spPr>
        <p:txBody>
          <a:bodyPr/>
          <a:lstStyle/>
          <a:p>
            <a:r>
              <a:rPr lang="en-US" dirty="0"/>
              <a:t>What Should We Pay for a Full-Time Data Scientist?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B3EBEA-E468-3D3A-F716-EDAD12702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674637"/>
            <a:ext cx="8825658" cy="13451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Merrimack College</a:t>
            </a:r>
          </a:p>
          <a:p>
            <a:r>
              <a:rPr lang="en-US" dirty="0"/>
              <a:t>DSE5002 – 10/2/2026</a:t>
            </a:r>
          </a:p>
          <a:p>
            <a:r>
              <a:rPr lang="en-US" dirty="0"/>
              <a:t>Professor: Dr. Wifvat</a:t>
            </a:r>
          </a:p>
          <a:p>
            <a:r>
              <a:rPr lang="en-US" dirty="0"/>
              <a:t>Presented by: Andrey Marchenko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016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F23BD-74FD-C070-0AF4-643C053A1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This Data Can &amp; Can’t Tell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4D403-1A99-8909-B37F-4ED20BEC5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943" y="2620433"/>
            <a:ext cx="10512113" cy="3416300"/>
          </a:xfrm>
        </p:spPr>
        <p:txBody>
          <a:bodyPr>
            <a:noAutofit/>
          </a:bodyPr>
          <a:lstStyle/>
          <a:p>
            <a:r>
              <a:rPr lang="en-US" sz="2200" dirty="0"/>
              <a:t>Dataset comprised of 2020-2022  years only (not current information)</a:t>
            </a:r>
          </a:p>
          <a:p>
            <a:r>
              <a:rPr lang="en-US" sz="2200" dirty="0"/>
              <a:t>Experience level is not quantified by years of experience</a:t>
            </a:r>
          </a:p>
          <a:p>
            <a:r>
              <a:rPr lang="en-US" sz="2200" dirty="0"/>
              <a:t>Limited small company data with only 2 Sr. Data Scientists to work from</a:t>
            </a:r>
          </a:p>
          <a:p>
            <a:r>
              <a:rPr lang="en-US" sz="2200" dirty="0"/>
              <a:t>Offshore = anyone whose  listed residence is outside the United States</a:t>
            </a:r>
          </a:p>
          <a:p>
            <a:r>
              <a:rPr lang="en-US" sz="2200" dirty="0"/>
              <a:t>Recommendations come from US, full-time Sr. Data Scientists specifically</a:t>
            </a:r>
          </a:p>
          <a:p>
            <a:r>
              <a:rPr lang="en-US" sz="2200" dirty="0"/>
              <a:t>These limitations don’t invalidate the analysis, but provide a starting point instead of current market data</a:t>
            </a:r>
          </a:p>
          <a:p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85001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17F67-B2A5-E1CE-5A56-24777AC40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Hiring in the US Costs More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33EB65-5D0C-6BD2-0757-7A1368560B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804" y="2506539"/>
            <a:ext cx="5783196" cy="4056209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F644778-CD03-0B1F-B546-5D345A3FC6E9}"/>
              </a:ext>
            </a:extLst>
          </p:cNvPr>
          <p:cNvSpPr txBox="1">
            <a:spLocks/>
          </p:cNvSpPr>
          <p:nvPr/>
        </p:nvSpPr>
        <p:spPr>
          <a:xfrm>
            <a:off x="6223818" y="3039115"/>
            <a:ext cx="5427407" cy="29910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Average US Salary = $149,000</a:t>
            </a:r>
          </a:p>
          <a:p>
            <a:r>
              <a:rPr lang="en-US" sz="2400" dirty="0"/>
              <a:t>Average Offshore Salary = $68,000</a:t>
            </a:r>
          </a:p>
          <a:p>
            <a:r>
              <a:rPr lang="en-US" sz="2400" dirty="0"/>
              <a:t>Difference of two groups = $81,000</a:t>
            </a:r>
          </a:p>
          <a:p>
            <a:r>
              <a:rPr lang="en-US" sz="2400" dirty="0"/>
              <a:t>US market pays more than double for similar role types</a:t>
            </a:r>
          </a:p>
          <a:p>
            <a:r>
              <a:rPr lang="en-US" sz="2400" dirty="0"/>
              <a:t>Analysis assumes we hire from US only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79438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55B61-7B6D-1A77-288E-D217DB7B8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479179" cy="706964"/>
          </a:xfrm>
        </p:spPr>
        <p:txBody>
          <a:bodyPr/>
          <a:lstStyle/>
          <a:p>
            <a:r>
              <a:rPr lang="en-US" dirty="0"/>
              <a:t>Salary Nearly Triples at the Senior Level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946F54-1725-8E81-F55F-5E3D1CC8CD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712" y="2528594"/>
            <a:ext cx="5470291" cy="408935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3EF0582-24EC-BB42-A4EF-6157B5D7E386}"/>
              </a:ext>
            </a:extLst>
          </p:cNvPr>
          <p:cNvSpPr txBox="1">
            <a:spLocks/>
          </p:cNvSpPr>
          <p:nvPr/>
        </p:nvSpPr>
        <p:spPr>
          <a:xfrm>
            <a:off x="6291999" y="2783854"/>
            <a:ext cx="5427407" cy="35788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Entry level roles pay $55,000</a:t>
            </a:r>
          </a:p>
          <a:p>
            <a:r>
              <a:rPr lang="en-US" sz="2400" dirty="0"/>
              <a:t>Mid level pays $82,000</a:t>
            </a:r>
          </a:p>
          <a:p>
            <a:r>
              <a:rPr lang="en-US" sz="2400" dirty="0"/>
              <a:t>Senior level pays $153,000</a:t>
            </a:r>
          </a:p>
          <a:p>
            <a:r>
              <a:rPr lang="en-US" sz="2400" dirty="0"/>
              <a:t>The role we’re filling is designed to help manage a data science team </a:t>
            </a:r>
          </a:p>
          <a:p>
            <a:r>
              <a:rPr lang="en-US" sz="2400" dirty="0"/>
              <a:t>If pricing this job against Mid  level, we would be $70k short of what comparable data scientists earn</a:t>
            </a:r>
          </a:p>
          <a:p>
            <a:r>
              <a:rPr lang="en-US" sz="2400" dirty="0"/>
              <a:t>Senior level is the comparison I’ve used for the rest of analysis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2232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8F590-4465-6D14-F45A-497C2D5A4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Senior US Salary Range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F54E33-488C-8974-436B-8FFC6C424B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6490" y="2654669"/>
            <a:ext cx="5489510" cy="370585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56B3F5A-52AE-56C7-5FD8-2637ED877ABE}"/>
              </a:ext>
            </a:extLst>
          </p:cNvPr>
          <p:cNvSpPr txBox="1">
            <a:spLocks/>
          </p:cNvSpPr>
          <p:nvPr/>
        </p:nvSpPr>
        <p:spPr>
          <a:xfrm>
            <a:off x="6158103" y="2846891"/>
            <a:ext cx="5427407" cy="332140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Median Sr. role pays $150,000</a:t>
            </a:r>
          </a:p>
          <a:p>
            <a:r>
              <a:rPr lang="en-US" sz="2400" dirty="0"/>
              <a:t>Average Sr. role pays $167,000</a:t>
            </a:r>
          </a:p>
          <a:p>
            <a:r>
              <a:rPr lang="en-US" sz="2400" dirty="0"/>
              <a:t>75</a:t>
            </a:r>
            <a:r>
              <a:rPr lang="en-US" sz="2400" baseline="30000" dirty="0"/>
              <a:t>th</a:t>
            </a:r>
            <a:r>
              <a:rPr lang="en-US" sz="2400" dirty="0"/>
              <a:t> Percentile pays $205,000</a:t>
            </a:r>
          </a:p>
          <a:p>
            <a:r>
              <a:rPr lang="en-US" sz="2400" dirty="0"/>
              <a:t>More than half of Senior hires earn above $150k. An offer at the median may not be competitive enough</a:t>
            </a:r>
          </a:p>
          <a:p>
            <a:r>
              <a:rPr lang="en-US" sz="2400" dirty="0"/>
              <a:t>The 75th percentile at $205K is a useful ceiling, and going above this point will be difficult to justify ($405k)</a:t>
            </a:r>
          </a:p>
        </p:txBody>
      </p:sp>
    </p:spTree>
    <p:extLst>
      <p:ext uri="{BB962C8B-B14F-4D97-AF65-F5344CB8AC3E}">
        <p14:creationId xmlns:p14="http://schemas.microsoft.com/office/powerpoint/2010/main" val="1508250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BDD29-C649-130E-E430-F8ABEE271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Salary Offer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C77FA2-2DBF-8F6C-9973-7E10D12F5F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8609" y="2568717"/>
            <a:ext cx="5637391" cy="394356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6DDBC2-598F-7CD0-A47F-D3DBF5E8E9F8}"/>
              </a:ext>
            </a:extLst>
          </p:cNvPr>
          <p:cNvSpPr txBox="1">
            <a:spLocks/>
          </p:cNvSpPr>
          <p:nvPr/>
        </p:nvSpPr>
        <p:spPr>
          <a:xfrm>
            <a:off x="6096000" y="2861733"/>
            <a:ext cx="5637391" cy="316843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Recommended target offer: </a:t>
            </a:r>
          </a:p>
          <a:p>
            <a:pPr marL="0" indent="0">
              <a:buNone/>
            </a:pPr>
            <a:r>
              <a:rPr lang="en-US" sz="2400" dirty="0"/>
              <a:t>	$160-190k</a:t>
            </a:r>
          </a:p>
          <a:p>
            <a:r>
              <a:rPr lang="en-US" sz="2400" dirty="0"/>
              <a:t>Broader market range is $150-205k</a:t>
            </a:r>
          </a:p>
          <a:p>
            <a:r>
              <a:rPr lang="en-US" sz="2400" dirty="0"/>
              <a:t>Offering above $150k should make us more competitive</a:t>
            </a:r>
          </a:p>
          <a:p>
            <a:r>
              <a:rPr lang="en-US" sz="2400" dirty="0"/>
              <a:t>If we want to have somebody with a lot of technical and leadership experience, we have room to grow from $190k toward $205k</a:t>
            </a:r>
          </a:p>
        </p:txBody>
      </p:sp>
    </p:spTree>
    <p:extLst>
      <p:ext uri="{BB962C8B-B14F-4D97-AF65-F5344CB8AC3E}">
        <p14:creationId xmlns:p14="http://schemas.microsoft.com/office/powerpoint/2010/main" val="36203083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122</TotalTime>
  <Words>335</Words>
  <Application>Microsoft Macintosh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 Boardroom</vt:lpstr>
      <vt:lpstr>What Should We Pay for a Full-Time Data Scientist?</vt:lpstr>
      <vt:lpstr>What This Data Can &amp; Can’t Tell Us</vt:lpstr>
      <vt:lpstr>Hiring in the US Costs More</vt:lpstr>
      <vt:lpstr>Salary Nearly Triples at the Senior Level</vt:lpstr>
      <vt:lpstr>Senior US Salary Range</vt:lpstr>
      <vt:lpstr>Recommended Salary Offer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Andrey Marchenko</dc:creator>
  <cp:lastModifiedBy>Andrey Marchenko</cp:lastModifiedBy>
  <cp:revision>33</cp:revision>
  <dcterms:created xsi:type="dcterms:W3CDTF">2026-10-02T20:00:02Z</dcterms:created>
  <dcterms:modified xsi:type="dcterms:W3CDTF">2026-10-04T12:42:31Z</dcterms:modified>
</cp:coreProperties>
</file>